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4d3378e8b42f5" /><Relationship Type="http://schemas.openxmlformats.org/officeDocument/2006/relationships/extended-properties" Target="/docProps/app.xml" Id="R0a28d1f80416434d" /><Relationship Type="http://schemas.openxmlformats.org/officeDocument/2006/relationships/officeDocument" Target="/ppt/presentation.xml" Id="R96e3f485b7064d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1640c8b6ce4e8b"/>
  </p:sldMasterIdLst>
  <p:notesMasterIdLst>
    <p:notesMasterId xmlns:r="http://schemas.openxmlformats.org/officeDocument/2006/relationships" r:id="Rc670d219c994489b"/>
  </p:notesMasterIdLst>
  <p:sldIdLst>
    <p:sldId xmlns:r="http://schemas.openxmlformats.org/officeDocument/2006/relationships" id="256" r:id="R4e09547ff84c4d87"/>
    <p:sldId xmlns:r="http://schemas.openxmlformats.org/officeDocument/2006/relationships" id="257" r:id="R7cc5bad335dd4b6a"/>
    <p:sldId xmlns:r="http://schemas.openxmlformats.org/officeDocument/2006/relationships" id="258" r:id="Rbc34db57187742b8"/>
    <p:sldId xmlns:r="http://schemas.openxmlformats.org/officeDocument/2006/relationships" id="259" r:id="R9b4c6df8a05c4c3a"/>
    <p:sldId xmlns:r="http://schemas.openxmlformats.org/officeDocument/2006/relationships" id="260" r:id="R540bda420ed94aab"/>
    <p:sldId xmlns:r="http://schemas.openxmlformats.org/officeDocument/2006/relationships" id="261" r:id="Rd2e6f3f83f7e48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3060844924277" /><Relationship Type="http://schemas.openxmlformats.org/officeDocument/2006/relationships/slideMaster" Target="/ppt/slideMasters/slideMaster1.xml" Id="R461640c8b6ce4e8b" /><Relationship Type="http://schemas.openxmlformats.org/officeDocument/2006/relationships/notesMaster" Target="/ppt/notesMasters/notesMaster1.xml" Id="Rc670d219c994489b" /><Relationship Type="http://schemas.openxmlformats.org/officeDocument/2006/relationships/presProps" Target="/ppt/presProps.xml" Id="Rfa40434ff112443d" /><Relationship Type="http://schemas.openxmlformats.org/officeDocument/2006/relationships/tableStyles" Target="/ppt/tableStyles.xml" Id="R35ec390960eb42ee" /><Relationship Type="http://schemas.openxmlformats.org/officeDocument/2006/relationships/slide" Target="/ppt/slides/slide1.xml" Id="R4e09547ff84c4d87" /><Relationship Type="http://schemas.openxmlformats.org/officeDocument/2006/relationships/slide" Target="/ppt/slides/slide2.xml" Id="R7cc5bad335dd4b6a" /><Relationship Type="http://schemas.openxmlformats.org/officeDocument/2006/relationships/slide" Target="/ppt/slides/slide3.xml" Id="Rbc34db57187742b8" /><Relationship Type="http://schemas.openxmlformats.org/officeDocument/2006/relationships/slide" Target="/ppt/slides/slide4.xml" Id="R9b4c6df8a05c4c3a" /><Relationship Type="http://schemas.openxmlformats.org/officeDocument/2006/relationships/slide" Target="/ppt/slides/slide5.xml" Id="R540bda420ed94aab" /><Relationship Type="http://schemas.openxmlformats.org/officeDocument/2006/relationships/slide" Target="/ppt/slides/slide6.xml" Id="Rd2e6f3f83f7e48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9eba4142b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c7d88d191475a" /><Relationship Type="http://schemas.openxmlformats.org/officeDocument/2006/relationships/notesMaster" Target="/ppt/notesMasters/notesMaster1.xml" Id="R3b1458ce501244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2fb1b4ee824584" /><Relationship Type="http://schemas.openxmlformats.org/officeDocument/2006/relationships/notesMaster" Target="/ppt/notesMasters/notesMaster1.xml" Id="Rc96171c0f08b4b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df0204dfc490e" /><Relationship Type="http://schemas.openxmlformats.org/officeDocument/2006/relationships/notesMaster" Target="/ppt/notesMasters/notesMaster1.xml" Id="R414eee8488ec4a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dedaa52644894" /><Relationship Type="http://schemas.openxmlformats.org/officeDocument/2006/relationships/notesMaster" Target="/ppt/notesMasters/notesMaster1.xml" Id="R1edf41b32b42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964252e4fe4dc6" /><Relationship Type="http://schemas.openxmlformats.org/officeDocument/2006/relationships/notesMaster" Target="/ppt/notesMasters/notesMaster1.xml" Id="R2317195a60ed40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34b86cb6642ca" /><Relationship Type="http://schemas.openxmlformats.org/officeDocument/2006/relationships/notesMaster" Target="/ppt/notesMasters/notesMaster1.xml" Id="R15c46d115963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and technical summary from README.md and DEMO_GUIDE.md. All measurements in the project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Phase 3.6 DIAGNOSTIC_REPORT.md, and results/phase4/experiment_config.json. All measurements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Phase 3.6 DIAGNOSTIC_REPORT.md, results/phase3_6/test_metrics.csv, results/phase3_6/frozen_selection.json, and results/phase3_6/precision_recall.png. The plotted PR curve is decision-window level; event scores use episode matching.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results/phase3_6/DIAGNOSTIC_REPORT.md, results/phase3_6/test_metrics.csv, results/phase3_6/scenario_test_metrics.csv, and results/phase3_6/episode_detection_by_scenario.png. GNN and GRU event metrics are episode-level; PR-AUC is window-level. Test set has three held-out seeds.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results/phase4/per_run_metrics.csv, results/phase4/scenario_summary.csv, results/phase4/experiment_config.json, and results/phase4/routing_comparison.png. Aggregate values below are arithmetic means over five scenarios and five common seeds. Delivery is a hop-level proxy; throughput sums link-hop Mbps.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DEMO_GUIDE.md. The dashboard replays saved Phase 4 runs or runs a new 80-step simulation using the existing simulator and controller. Reported metrics remain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2212ac6a045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b18e3f56a48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ac23d09024b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8ecd7a9c640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39018980643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fd9ef72734b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0D5E4B-CF21-4E97-BCF5-0E031FFA0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84B0BC-16CD-477B-A143-BC8A2C54A4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F1DED2-F39F-4778-ABD2-E27329D01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24A5A8-698A-45DA-B890-2A9D7049E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BF801E-C6DC-49A3-880E-E41FAB886E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70D8FB-B34A-4C30-903B-5CB15ADE6D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62B453-A2F8-48F1-83F4-04AEF0C4D5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5C423A-C214-4DE9-9A0E-D4B14C013D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3B1926-0113-4A10-A65C-05054BFCB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C39CF1-0E16-46E0-93EB-8658E3495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4dae7b50b44f29" /><Relationship Type="http://schemas.openxmlformats.org/officeDocument/2006/relationships/slideLayout" Target="/ppt/slideLayouts/slideLayout1.xml" Id="Rf55a18cce16c4c7c" /><Relationship Type="http://schemas.openxmlformats.org/officeDocument/2006/relationships/slideLayout" Target="/ppt/slideLayouts/slideLayout2.xml" Id="R228406b2eadd4a2e" /><Relationship Type="http://schemas.openxmlformats.org/officeDocument/2006/relationships/slideLayout" Target="/ppt/slideLayouts/slideLayout3.xml" Id="Rcb8c4a0082694185" /><Relationship Type="http://schemas.openxmlformats.org/officeDocument/2006/relationships/slideLayout" Target="/ppt/slideLayouts/slideLayout4.xml" Id="R81056a1ca9784061" /><Relationship Type="http://schemas.openxmlformats.org/officeDocument/2006/relationships/slideLayout" Target="/ppt/slideLayouts/slideLayout5.xml" Id="R4addfa59fcd84b81" /><Relationship Type="http://schemas.openxmlformats.org/officeDocument/2006/relationships/slideLayout" Target="/ppt/slideLayouts/slideLayout6.xml" Id="R33945ce7437c44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5a18cce16c4c7c"/>
    <p:sldLayoutId xmlns:r="http://schemas.openxmlformats.org/officeDocument/2006/relationships" id="2147483650" r:id="R228406b2eadd4a2e"/>
    <p:sldLayoutId xmlns:r="http://schemas.openxmlformats.org/officeDocument/2006/relationships" id="2147483651" r:id="Rcb8c4a0082694185"/>
    <p:sldLayoutId xmlns:r="http://schemas.openxmlformats.org/officeDocument/2006/relationships" id="2147483652" r:id="R81056a1ca9784061"/>
    <p:sldLayoutId xmlns:r="http://schemas.openxmlformats.org/officeDocument/2006/relationships" id="2147483653" r:id="R4addfa59fcd84b81"/>
    <p:sldLayoutId xmlns:r="http://schemas.openxmlformats.org/officeDocument/2006/relationships" id="2147483654" r:id="R33945ce7437c44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ab3cdf0884bb1" /><Relationship Type="http://schemas.openxmlformats.org/officeDocument/2006/relationships/notesSlide" Target="/ppt/notesSlides/notesSlide1.xml" Id="R55b895fa36e5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7b53edc9f4486" /><Relationship Type="http://schemas.openxmlformats.org/officeDocument/2006/relationships/notesSlide" Target="/ppt/notesSlides/notesSlide2.xml" Id="Re52bfcba589749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e0528a9a64138" /><Relationship Type="http://schemas.openxmlformats.org/officeDocument/2006/relationships/image" Target="/ppt/media/image.png" Id="Rec674c4f661748a5" /><Relationship Type="http://schemas.openxmlformats.org/officeDocument/2006/relationships/notesSlide" Target="/ppt/notesSlides/notesSlide3.xml" Id="R996112e4d8f84c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9c181fd2045cb" /><Relationship Type="http://schemas.openxmlformats.org/officeDocument/2006/relationships/image" Target="/ppt/media/image2.png" Id="R1325004f25084c2f" /><Relationship Type="http://schemas.openxmlformats.org/officeDocument/2006/relationships/notesSlide" Target="/ppt/notesSlides/notesSlide4.xml" Id="R921fb0b492be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9672de6674878" /><Relationship Type="http://schemas.openxmlformats.org/officeDocument/2006/relationships/image" Target="/ppt/media/image3.png" Id="R092d79ec47c8499f" /><Relationship Type="http://schemas.openxmlformats.org/officeDocument/2006/relationships/notesSlide" Target="/ppt/notesSlides/notesSlide5.xml" Id="R241e16de21a743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91b4a4a27486d" /><Relationship Type="http://schemas.openxmlformats.org/officeDocument/2006/relationships/notesSlide" Target="/ppt/notesSlides/notesSlide6.xml" Id="R93c20653acb649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247585A4-122C-4792-B3B4-96FF99A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Graph Neural Network-Based</a:t>
            </a:r>
          </a:p>
          <a:p xmlns:a="http://schemas.openxmlformats.org/drawingml/2006/main">
            <a: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Network Congestion Prediction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AFE51A-0F27-4865-9829-DCBB540F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Proactive Traffic Management in Computer Networks</a:t>
            </a:r>
          </a:p>
        </p:txBody>
      </p:sp>
      <p:sp>
        <p:nvSpPr>
          <p:cNvPr id="3" name="Project summary">
            <a:extLst xmlns:a="http://schemas.openxmlformats.org/drawingml/2006/main">
              <a:ext uri="{FF2B5EF4-FFF2-40B4-BE49-F238E27FC236}">
                <a16:creationId xmlns:a16="http://schemas.microsoft.com/office/drawing/2014/main" id="{1A0306CE-57C4-4304-BBA3-CA95F1B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 reproducible study using a packet-level simulator, temporal graph learning, and closed-loop routing</a:t>
            </a:r>
          </a:p>
        </p:txBody>
      </p:sp>
      <p:sp>
        <p:nvSpPr>
          <p:cNvPr id="4" name="Project type">
            <a:extLst xmlns:a="http://schemas.openxmlformats.org/drawingml/2006/main">
              <a:ext uri="{FF2B5EF4-FFF2-40B4-BE49-F238E27FC236}">
                <a16:creationId xmlns:a16="http://schemas.microsoft.com/office/drawing/2014/main" id="{D7FC3CF9-B69C-41AF-B140-8A8B9EA0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UNIVERSITY COMPUTER NETWORKS PROJECT</a:t>
            </a:r>
          </a:p>
        </p:txBody>
      </p:sp>
    </p:spTree>
    <p:extLst>
      <p:ext uri="{BB962C8B-B14F-4D97-AF65-F5344CB8AC3E}">
        <p14:creationId xmlns:p14="http://schemas.microsoft.com/office/powerpoint/2010/main" val="1606842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C9E2DC4-129D-43AB-BBBE-62CE300E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Network simulation and prediction task</a:t>
            </a:r>
          </a:p>
        </p:txBody>
      </p:sp>
      <p:sp>
        <p:nvSpPr>
          <p:cNvPr id="2" name="Topology">
            <a:extLst xmlns:a="http://schemas.openxmlformats.org/drawingml/2006/main">
              <a:ext uri="{FF2B5EF4-FFF2-40B4-BE49-F238E27FC236}">
                <a16:creationId xmlns:a16="http://schemas.microsoft.com/office/drawing/2014/main" id="{E357630B-307E-45E0-8887-D28199D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Topology</a:t>
            </a:r>
          </a:p>
        </p:txBody>
      </p:sp>
      <p:sp>
        <p:nvSpPr>
          <p:cNvPr id="3" name="10 routers and 15 full-duplex links.">
            <a:extLst xmlns:a="http://schemas.openxmlformats.org/drawingml/2006/main">
              <a:ext uri="{FF2B5EF4-FFF2-40B4-BE49-F238E27FC236}">
                <a16:creationId xmlns:a16="http://schemas.microsoft.com/office/drawing/2014/main" id="{52AEE5D7-495B-4F65-9C8C-75FE427E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906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10 routers and 15 full-duplex links. Each direction has its own finite queue and capacity-bounded service.</a:t>
            </a:r>
          </a:p>
        </p:txBody>
      </p:sp>
      <p:sp>
        <p:nvSpPr>
          <p:cNvPr id="4" name="Traffic">
            <a:extLst xmlns:a="http://schemas.openxmlformats.org/drawingml/2006/main">
              <a:ext uri="{FF2B5EF4-FFF2-40B4-BE49-F238E27FC236}">
                <a16:creationId xmlns:a16="http://schemas.microsoft.com/office/drawing/2014/main" id="{5B569871-4475-4200-99EF-6BA907F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Traffic</a:t>
            </a:r>
          </a:p>
        </p:txBody>
      </p:sp>
      <p:sp>
        <p:nvSpPr>
          <p:cNvPr id="5" name="Five reproducible patterns: gradual ">
            <a:extLst xmlns:a="http://schemas.openxmlformats.org/drawingml/2006/main">
              <a:ext uri="{FF2B5EF4-FFF2-40B4-BE49-F238E27FC236}">
                <a16:creationId xmlns:a16="http://schemas.microsoft.com/office/drawing/2014/main" id="{C73661E9-100D-4F84-9539-BD55DE3F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Five reproducible patterns: gradual ramp, sustained bottleneck, periodic, correlated, and sudden burst.</a:t>
            </a:r>
          </a:p>
        </p:txBody>
      </p:sp>
      <p:sp>
        <p:nvSpPr>
          <p:cNvPr id="6" name="Measurements">
            <a:extLst xmlns:a="http://schemas.openxmlformats.org/drawingml/2006/main">
              <a:ext uri="{FF2B5EF4-FFF2-40B4-BE49-F238E27FC236}">
                <a16:creationId xmlns:a16="http://schemas.microsoft.com/office/drawing/2014/main" id="{B3C4562A-F1F5-4071-9ADD-225DD35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Measurements</a:t>
            </a:r>
          </a:p>
        </p:txBody>
      </p:sp>
      <p:sp>
        <p:nvSpPr>
          <p:cNvPr id="7" name="At one-second intervals: utilization">
            <a:extLst xmlns:a="http://schemas.openxmlformats.org/drawingml/2006/main">
              <a:ext uri="{FF2B5EF4-FFF2-40B4-BE49-F238E27FC236}">
                <a16:creationId xmlns:a16="http://schemas.microsoft.com/office/drawing/2014/main" id="{503BD60A-4EE1-4C6C-A228-BA09A5C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At one-second intervals: utilization, queue occupancy, delay, packet loss, demand, and throughput.</a:t>
            </a:r>
          </a:p>
        </p:txBody>
      </p:sp>
      <p:sp>
        <p:nvSpPr>
          <p:cNvPr id="8" name="Prediction target">
            <a:extLst xmlns:a="http://schemas.openxmlformats.org/drawingml/2006/main">
              <a:ext uri="{FF2B5EF4-FFF2-40B4-BE49-F238E27FC236}">
                <a16:creationId xmlns:a16="http://schemas.microsoft.com/office/drawing/2014/main" id="{E1BD0537-3B17-415D-B0C7-B494237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Prediction target</a:t>
            </a:r>
          </a:p>
        </p:txBody>
      </p:sp>
      <p:sp>
        <p:nvSpPr>
          <p:cNvPr id="9" name="From 10 steps of causal history, ide">
            <a:extLst xmlns:a="http://schemas.openxmlformats.org/drawingml/2006/main">
              <a:ext uri="{FF2B5EF4-FFF2-40B4-BE49-F238E27FC236}">
                <a16:creationId xmlns:a16="http://schemas.microsoft.com/office/drawing/2014/main" id="{38988F6A-AEE3-4596-9708-61FFF97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From 10 steps of causal history, identify a first 85% utilization crossing within the next five steps.</a:t>
            </a:r>
          </a:p>
        </p:txBody>
      </p:sp>
      <p:sp>
        <p:nvSpPr>
          <p:cNvPr id="10" name="Held-out test">
            <a:extLst xmlns:a="http://schemas.openxmlformats.org/drawingml/2006/main">
              <a:ext uri="{FF2B5EF4-FFF2-40B4-BE49-F238E27FC236}">
                <a16:creationId xmlns:a16="http://schemas.microsoft.com/office/drawing/2014/main" id="{222FD30B-E676-49B0-8A77-7112EC3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Held-out test</a:t>
            </a:r>
          </a:p>
        </p:txBody>
      </p:sp>
      <p:sp>
        <p:nvSpPr>
          <p:cNvPr id="11" name="Phase 3.6 grouped independent simula">
            <a:extLst xmlns:a="http://schemas.openxmlformats.org/drawingml/2006/main">
              <a:ext uri="{FF2B5EF4-FFF2-40B4-BE49-F238E27FC236}">
                <a16:creationId xmlns:a16="http://schemas.microsoft.com/office/drawing/2014/main" id="{2580C12F-AEC7-4D7A-A9BB-594E561E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Phase 3.6 grouped independent simulation seeds: 18 train, 4 validation, and 3 test.</a:t>
            </a:r>
          </a:p>
        </p:txBody>
      </p:sp>
      <p:sp>
        <p:nvSpPr>
          <p:cNvPr id="12" name="The held-out split keeps all scenari">
            <a:extLst xmlns:a="http://schemas.openxmlformats.org/drawingml/2006/main">
              <a:ext uri="{FF2B5EF4-FFF2-40B4-BE49-F238E27FC236}">
                <a16:creationId xmlns:a16="http://schemas.microsoft.com/office/drawing/2014/main" id="{D4F6FC84-CF50-4155-868D-7385471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The held-out split keeps all scenario variants from one seed together.</a:t>
            </a:r>
          </a:p>
        </p:txBody>
      </p:sp>
    </p:spTree>
    <p:extLst>
      <p:ext uri="{BB962C8B-B14F-4D97-AF65-F5344CB8AC3E}">
        <p14:creationId xmlns:p14="http://schemas.microsoft.com/office/powerpoint/2010/main" val="468275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F4FD8AA-2C80-4BD8-B205-923F9898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Temporal graph model</a:t>
            </a:r>
          </a:p>
        </p:txBody>
      </p:sp>
      <p:sp>
        <p:nvSpPr>
          <p:cNvPr id="2" name="Graph representation">
            <a:extLst xmlns:a="http://schemas.openxmlformats.org/drawingml/2006/main">
              <a:ext uri="{FF2B5EF4-FFF2-40B4-BE49-F238E27FC236}">
                <a16:creationId xmlns:a16="http://schemas.microsoft.com/office/drawing/2014/main" id="{F1F5C2A9-CA4D-4130-AE75-973D32B8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Graph representation</a:t>
            </a:r>
          </a:p>
        </p:txBody>
      </p:sp>
      <p:sp>
        <p:nvSpPr>
          <p:cNvPr id="3" name="Each directed link is a graph node. ">
            <a:extLst xmlns:a="http://schemas.openxmlformats.org/drawingml/2006/main">
              <a:ext uri="{FF2B5EF4-FFF2-40B4-BE49-F238E27FC236}">
                <a16:creationId xmlns:a16="http://schemas.microsoft.com/office/drawing/2014/main" id="{76A66377-65A6-4427-9921-DCC1071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429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Each directed link is a graph node. Links connect when they share a router, so congestion context can pass across adjacent paths.</a:t>
            </a:r>
          </a:p>
        </p:txBody>
      </p:sp>
      <p:sp>
        <p:nvSpPr>
          <p:cNvPr id="4" name="Temporal encoder">
            <a:extLst xmlns:a="http://schemas.openxmlformats.org/drawingml/2006/main">
              <a:ext uri="{FF2B5EF4-FFF2-40B4-BE49-F238E27FC236}">
                <a16:creationId xmlns:a16="http://schemas.microsoft.com/office/drawing/2014/main" id="{688F26AA-2CE5-4AAB-B600-0178CCDC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Temporal encoder</a:t>
            </a:r>
          </a:p>
        </p:txBody>
      </p:sp>
      <p:sp>
        <p:nvSpPr>
          <p:cNvPr id="5" name="Graph convolution learns spatial rel">
            <a:extLst xmlns:a="http://schemas.openxmlformats.org/drawingml/2006/main">
              <a:ext uri="{FF2B5EF4-FFF2-40B4-BE49-F238E27FC236}">
                <a16:creationId xmlns:a16="http://schemas.microsoft.com/office/drawing/2014/main" id="{E2C4A4B8-26AB-4E20-A842-0781CEC4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429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Graph convolution learns spatial relationships. A GRU summarizes each link’s recent sequence of network measurements.</a:t>
            </a:r>
          </a:p>
        </p:txBody>
      </p:sp>
      <p:sp>
        <p:nvSpPr>
          <p:cNvPr id="6" name="Onset output">
            <a:extLst xmlns:a="http://schemas.openxmlformats.org/drawingml/2006/main">
              <a:ext uri="{FF2B5EF4-FFF2-40B4-BE49-F238E27FC236}">
                <a16:creationId xmlns:a16="http://schemas.microsoft.com/office/drawing/2014/main" id="{F9CB175A-C845-495A-B9AA-79CDDAA0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Onset output</a:t>
            </a:r>
          </a:p>
        </p:txBody>
      </p:sp>
      <p:sp>
        <p:nvSpPr>
          <p:cNvPr id="7" name="The GNN threshold was selected on va">
            <a:extLst xmlns:a="http://schemas.openxmlformats.org/drawingml/2006/main">
              <a:ext uri="{FF2B5EF4-FFF2-40B4-BE49-F238E27FC236}">
                <a16:creationId xmlns:a16="http://schemas.microsoft.com/office/drawing/2014/main" id="{82FC44DB-B171-4874-89FE-C64D744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42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93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The GNN threshold was selected on validation (0.9643). It estimates risk of a future onset, not a guaranteed route improvement.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265C2-C413-4F9D-B22A-9B56ECF2C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74c4f661748a5"/>
          <a:stretch xmlns:a="http://schemas.openxmlformats.org/drawingml/2006/main"/>
        </p:blipFill>
        <p:spPr>
          <a:xfrm xmlns:a="http://schemas.openxmlformats.org/drawingml/2006/main">
            <a:off x="5429250" y="1497466"/>
            <a:ext cx="6048375" cy="4320268"/>
          </a:xfrm>
          <a:prstGeom xmlns:a="http://schemas.openxmlformats.org/drawingml/2006/main" prst="rect">
            <a:avLst/>
          </a:prstGeom>
        </p:spPr>
      </p:pic>
      <p:sp>
        <p:nvSpPr>
          <p:cNvPr id="9" name="Held-out precision–recall curves. Wi">
            <a:extLst xmlns:a="http://schemas.openxmlformats.org/drawingml/2006/main">
              <a:ext uri="{FF2B5EF4-FFF2-40B4-BE49-F238E27FC236}">
                <a16:creationId xmlns:a16="http://schemas.microsoft.com/office/drawing/2014/main" id="{52D06630-B732-4A88-8C02-EA5FB490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3885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Held-out precision–recall curves. Window-level scores.</a:t>
            </a:r>
          </a:p>
        </p:txBody>
      </p:sp>
    </p:spTree>
    <p:extLst>
      <p:ext uri="{BB962C8B-B14F-4D97-AF65-F5344CB8AC3E}">
        <p14:creationId xmlns:p14="http://schemas.microsoft.com/office/powerpoint/2010/main" val="961991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C132FDA-93D8-4B0A-A15B-17694AB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GNN onset detection varies by traffic pattern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C3532-E957-425E-8364-E48D65E84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5004f25084c2f"/>
          <a:stretch xmlns:a="http://schemas.openxmlformats.org/drawingml/2006/main"/>
        </p:blipFill>
        <p:spPr>
          <a:xfrm xmlns:a="http://schemas.openxmlformats.org/drawingml/2006/main">
            <a:off x="685800" y="1714500"/>
            <a:ext cx="6477000" cy="2590800"/>
          </a:xfrm>
          <a:prstGeom xmlns:a="http://schemas.openxmlformats.org/drawingml/2006/main" prst="rect">
            <a:avLst/>
          </a:prstGeom>
        </p:spPr>
      </p:pic>
      <p:sp>
        <p:nvSpPr>
          <p:cNvPr id="3" name="GNN">
            <a:extLst xmlns:a="http://schemas.openxmlformats.org/drawingml/2006/main">
              <a:ext uri="{FF2B5EF4-FFF2-40B4-BE49-F238E27FC236}">
                <a16:creationId xmlns:a16="http://schemas.microsoft.com/office/drawing/2014/main" id="{ADB68272-7E1D-41C7-B536-E9F042C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GNN</a:t>
            </a:r>
          </a:p>
        </p:txBody>
      </p:sp>
      <p:sp>
        <p:nvSpPr>
          <p:cNvPr id="4" name="11 of 40&#10;eligible onsets detected">
            <a:extLst xmlns:a="http://schemas.openxmlformats.org/drawingml/2006/main">
              <a:ext uri="{FF2B5EF4-FFF2-40B4-BE49-F238E27FC236}">
                <a16:creationId xmlns:a16="http://schemas.microsoft.com/office/drawing/2014/main" id="{C4D606F0-BB67-40B6-9355-7908F5C9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11 of 40</a:t>
            </a:r>
          </a:p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eligible onsets detected</a:t>
            </a:r>
          </a:p>
        </p:txBody>
      </p:sp>
      <p:sp>
        <p:nvSpPr>
          <p:cNvPr id="5" name="Episode precision  0.297&#10;Episode rec">
            <a:extLst xmlns:a="http://schemas.openxmlformats.org/drawingml/2006/main">
              <a:ext uri="{FF2B5EF4-FFF2-40B4-BE49-F238E27FC236}">
                <a16:creationId xmlns:a16="http://schemas.microsoft.com/office/drawing/2014/main" id="{7829F1C9-BF0D-4A28-BB05-F76E3FD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Episode precision  0.297</a:t>
            </a:r>
          </a:p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Episode recall       0.275</a:t>
            </a:r>
          </a:p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Episode F1              0.286</a:t>
            </a:r>
          </a:p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False alerts       1.73 / run</a:t>
            </a:r>
          </a:p>
        </p:txBody>
      </p:sp>
      <p:sp>
        <p:nvSpPr>
          <p:cNvPr id="6" name="Detection was limited to periodic on">
            <a:extLst xmlns:a="http://schemas.openxmlformats.org/drawingml/2006/main">
              <a:ext uri="{FF2B5EF4-FFF2-40B4-BE49-F238E27FC236}">
                <a16:creationId xmlns:a16="http://schemas.microsoft.com/office/drawing/2014/main" id="{886D60C8-A216-4292-9B33-67146478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052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Detection was limited to periodic onsets in this test. The GNN detected none of the tested gradual, sustained, correlated, or sudden-burst episodes.</a:t>
            </a:r>
          </a:p>
        </p:txBody>
      </p:sp>
      <p:sp>
        <p:nvSpPr>
          <p:cNvPr id="7" name="Useful lead averaged 3.18 steps for ">
            <a:extLst xmlns:a="http://schemas.openxmlformats.org/drawingml/2006/main">
              <a:ext uri="{FF2B5EF4-FFF2-40B4-BE49-F238E27FC236}">
                <a16:creationId xmlns:a16="http://schemas.microsoft.com/office/drawing/2014/main" id="{14CD0353-70CE-408E-864F-18AFF09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052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Useful lead averaged 3.18 steps for detected episodes; the assumed controller delay is 2 steps.</a:t>
            </a:r>
          </a:p>
        </p:txBody>
      </p:sp>
    </p:spTree>
    <p:extLst>
      <p:ext uri="{BB962C8B-B14F-4D97-AF65-F5344CB8AC3E}">
        <p14:creationId xmlns:p14="http://schemas.microsoft.com/office/powerpoint/2010/main" val="619260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64BCABC-7509-4345-9387-D7CC495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Routing results across 25 paired simulations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27FB5-6821-4148-A7DC-9C5A4D24F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d79ec47c8499f"/>
          <a:stretch xmlns:a="http://schemas.openxmlformats.org/drawingml/2006/main"/>
        </p:blipFill>
        <p:spPr>
          <a:xfrm xmlns:a="http://schemas.openxmlformats.org/drawingml/2006/main">
            <a:off x="838200" y="1333500"/>
            <a:ext cx="10515600" cy="3943350"/>
          </a:xfrm>
          <a:prstGeom xmlns:a="http://schemas.openxmlformats.org/drawingml/2006/main" prst="rect">
            <a:avLst/>
          </a:prstGeom>
        </p:spPr>
      </p:pic>
      <p:sp>
        <p:nvSpPr>
          <p:cNvPr id="3" name="Mean delay (ms)">
            <a:extLst xmlns:a="http://schemas.openxmlformats.org/drawingml/2006/main">
              <a:ext uri="{FF2B5EF4-FFF2-40B4-BE49-F238E27FC236}">
                <a16:creationId xmlns:a16="http://schemas.microsoft.com/office/drawing/2014/main" id="{91BAE09C-FB20-4B6B-BD5F-C11F91AD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Mean delay (ms)</a:t>
            </a:r>
          </a:p>
        </p:txBody>
      </p:sp>
      <p:sp>
        <p:nvSpPr>
          <p:cNvPr id="4" name="Static: 7.095     Reactive: 6.560   ">
            <a:extLst xmlns:a="http://schemas.openxmlformats.org/drawingml/2006/main">
              <a:ext uri="{FF2B5EF4-FFF2-40B4-BE49-F238E27FC236}">
                <a16:creationId xmlns:a16="http://schemas.microsoft.com/office/drawing/2014/main" id="{6D448C92-D736-47CB-8824-A790AFF9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Static: 7.095     Reactive: 6.560     GRU: 6.729     GNN: 7.018</a:t>
            </a:r>
          </a:p>
        </p:txBody>
      </p:sp>
      <p:sp>
        <p:nvSpPr>
          <p:cNvPr id="5" name="Mean congestion duration (steps): st">
            <a:extLst xmlns:a="http://schemas.openxmlformats.org/drawingml/2006/main">
              <a:ext uri="{FF2B5EF4-FFF2-40B4-BE49-F238E27FC236}">
                <a16:creationId xmlns:a16="http://schemas.microsoft.com/office/drawing/2014/main" id="{34B9C236-93E1-4AA8-8E28-97D055F5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71"/>
          </a:bodyPr>
          <a:lstStyle xmlns:a="http://schemas.openxmlformats.org/drawingml/2006/main">
            <a:def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Mean congestion duration (steps): static 40.68, reactive 25.48, GRU 32.20, GNN 38.00. Reactive routing performed best on these averages.</a:t>
            </a:r>
          </a:p>
        </p:txBody>
      </p:sp>
    </p:spTree>
    <p:extLst>
      <p:ext uri="{BB962C8B-B14F-4D97-AF65-F5344CB8AC3E}">
        <p14:creationId xmlns:p14="http://schemas.microsoft.com/office/powerpoint/2010/main" val="1975711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7859856-F0AE-42A1-B758-3BD83299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Interactive dashboard and project conclusion</a:t>
            </a:r>
          </a:p>
        </p:txBody>
      </p:sp>
      <p:sp>
        <p:nvSpPr>
          <p:cNvPr id="2" name="Dashboard">
            <a:extLst xmlns:a="http://schemas.openxmlformats.org/drawingml/2006/main">
              <a:ext uri="{FF2B5EF4-FFF2-40B4-BE49-F238E27FC236}">
                <a16:creationId xmlns:a16="http://schemas.microsoft.com/office/drawing/2014/main" id="{1C189F17-86F0-4A29-B99D-473B5BE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3" name="Replay or run a new simulation. Sele">
            <a:extLst xmlns:a="http://schemas.openxmlformats.org/drawingml/2006/main">
              <a:ext uri="{FF2B5EF4-FFF2-40B4-BE49-F238E27FC236}">
                <a16:creationId xmlns:a16="http://schemas.microsoft.com/office/drawing/2014/main" id="{5F338D35-0C4D-493A-A702-726FCC61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5029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Replay or run a new simulation. Select scenario, seed, and strategy. Scrub, play, pause, reset, and replay measured steps.</a:t>
            </a:r>
          </a:p>
        </p:txBody>
      </p:sp>
      <p:sp>
        <p:nvSpPr>
          <p:cNvPr id="4" name="Inspect">
            <a:extLst xmlns:a="http://schemas.openxmlformats.org/drawingml/2006/main">
              <a:ext uri="{FF2B5EF4-FFF2-40B4-BE49-F238E27FC236}">
                <a16:creationId xmlns:a16="http://schemas.microsoft.com/office/drawing/2014/main" id="{69EEA298-7FF1-4559-AF16-0D5BAE2B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5" name="View both directions of each link, o">
            <a:extLst xmlns:a="http://schemas.openxmlformats.org/drawingml/2006/main">
              <a:ext uri="{FF2B5EF4-FFF2-40B4-BE49-F238E27FC236}">
                <a16:creationId xmlns:a16="http://schemas.microsoft.com/office/drawing/2014/main" id="{68D3CA48-CD4A-4568-8B2B-72B62F0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029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View both directions of each link, observed congestion, model risk, applied reroutes, controller events, and paired strategy results.</a:t>
            </a:r>
          </a:p>
        </p:txBody>
      </p:sp>
      <p:sp>
        <p:nvSpPr>
          <p:cNvPr id="6" name="Conclusion">
            <a:extLst xmlns:a="http://schemas.openxmlformats.org/drawingml/2006/main">
              <a:ext uri="{FF2B5EF4-FFF2-40B4-BE49-F238E27FC236}">
                <a16:creationId xmlns:a16="http://schemas.microsoft.com/office/drawing/2014/main" id="{8CAD243A-3BFC-4275-AD76-CD7D4787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7" name="The GNN pipeline runs end to end, bu">
            <a:extLst xmlns:a="http://schemas.openxmlformats.org/drawingml/2006/main">
              <a:ext uri="{FF2B5EF4-FFF2-40B4-BE49-F238E27FC236}">
                <a16:creationId xmlns:a16="http://schemas.microsoft.com/office/drawing/2014/main" id="{80FA0BD5-ED66-46DF-B1C9-2E1CCAB4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29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The GNN pipeline runs end to end, but held-out onset detection is weak outside periodic traffic. Reactive routing had lower average delay and congestion duration in the Phase 4 study.</a:t>
            </a:r>
          </a:p>
        </p:txBody>
      </p:sp>
      <p:sp>
        <p:nvSpPr>
          <p:cNvPr id="8" name="Launch">
            <a:extLst xmlns:a="http://schemas.openxmlformats.org/drawingml/2006/main">
              <a:ext uri="{FF2B5EF4-FFF2-40B4-BE49-F238E27FC236}">
                <a16:creationId xmlns:a16="http://schemas.microsoft.com/office/drawing/2014/main" id="{280AB49A-8DEB-4E04-9B4D-E02546D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9" name="python -m streamlit run dashboard/ap">
            <a:extLst xmlns:a="http://schemas.openxmlformats.org/drawingml/2006/main">
              <a:ext uri="{FF2B5EF4-FFF2-40B4-BE49-F238E27FC236}">
                <a16:creationId xmlns:a16="http://schemas.microsoft.com/office/drawing/2014/main" id="{48E73A76-104B-48B4-8CF9-3911FF3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python -m streamlit run dashboard/app.py</a:t>
            </a:r>
          </a:p>
        </p:txBody>
      </p:sp>
      <p:sp>
        <p:nvSpPr>
          <p:cNvPr id="10" name="Limitations">
            <a:extLst xmlns:a="http://schemas.openxmlformats.org/drawingml/2006/main">
              <a:ext uri="{FF2B5EF4-FFF2-40B4-BE49-F238E27FC236}">
                <a16:creationId xmlns:a16="http://schemas.microsoft.com/office/drawing/2014/main" id="{0E2FA3C2-9EA0-4049-9447-97ADE13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0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1" name="All results are simulated. Delivery ">
            <a:extLst xmlns:a="http://schemas.openxmlformats.org/drawingml/2006/main">
              <a:ext uri="{FF2B5EF4-FFF2-40B4-BE49-F238E27FC236}">
                <a16:creationId xmlns:a16="http://schemas.microsoft.com/office/drawing/2014/main" id="{230C5719-E67A-457A-9EE7-2AD273CF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4762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All results are simulated. Delivery and loss are hop-level proxies; throughput is a link-hop sum. Only three independent seeds form the Phase 3.6 test set. Models trained under static routes may face distribution shift after rerouting.</a:t>
            </a:r>
          </a:p>
        </p:txBody>
      </p:sp>
      <p:sp>
        <p:nvSpPr>
          <p:cNvPr id="12" name="Demo walkthrough: README.md and DEMO">
            <a:extLst xmlns:a="http://schemas.openxmlformats.org/drawingml/2006/main">
              <a:ext uri="{FF2B5EF4-FFF2-40B4-BE49-F238E27FC236}">
                <a16:creationId xmlns:a16="http://schemas.microsoft.com/office/drawing/2014/main" id="{5D51F7EC-3388-4BF9-98BD-58A5121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72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Demo walkthrough: README.md and DEMO_GUIDE.md</a:t>
            </a:r>
          </a:p>
        </p:txBody>
      </p:sp>
    </p:spTree>
    <p:extLst>
      <p:ext uri="{BB962C8B-B14F-4D97-AF65-F5344CB8AC3E}">
        <p14:creationId xmlns:p14="http://schemas.microsoft.com/office/powerpoint/2010/main" val="1914881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2026-10-28T06:38:03.7480000Z</dcterms:created>
  <dcterms:modified xsi:type="dcterms:W3CDTF">2026-10-28T06:38:03.7480000Z</dcterms:modified>
</coreProperties>
</file>