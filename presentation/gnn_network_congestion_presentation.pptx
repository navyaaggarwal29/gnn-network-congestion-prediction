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08428e04414b58" /><Relationship Type="http://schemas.openxmlformats.org/officeDocument/2006/relationships/extended-properties" Target="/docProps/app.xml" Id="R876657fc0868427b" /><Relationship Type="http://schemas.openxmlformats.org/officeDocument/2006/relationships/officeDocument" Target="/ppt/presentation.xml" Id="R98725349aa9b4f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df958ea2f48ad"/>
  </p:sldMasterIdLst>
  <p:notesMasterIdLst>
    <p:notesMasterId xmlns:r="http://schemas.openxmlformats.org/officeDocument/2006/relationships" r:id="R8cd9885fcf07446c"/>
  </p:notesMasterIdLst>
  <p:sldIdLst>
    <p:sldId xmlns:r="http://schemas.openxmlformats.org/officeDocument/2006/relationships" id="256" r:id="Rc8111e1b747447df"/>
    <p:sldId xmlns:r="http://schemas.openxmlformats.org/officeDocument/2006/relationships" id="257" r:id="R82120f7a2ba846b4"/>
    <p:sldId xmlns:r="http://schemas.openxmlformats.org/officeDocument/2006/relationships" id="258" r:id="Ra2a1ff78c4fe46dc"/>
    <p:sldId xmlns:r="http://schemas.openxmlformats.org/officeDocument/2006/relationships" id="259" r:id="R8c847a648b094583"/>
    <p:sldId xmlns:r="http://schemas.openxmlformats.org/officeDocument/2006/relationships" id="260" r:id="Ra49e9591796f4238"/>
    <p:sldId xmlns:r="http://schemas.openxmlformats.org/officeDocument/2006/relationships" id="261" r:id="Rf079b066b44e4c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c3e5c56d60413f" /><Relationship Type="http://schemas.openxmlformats.org/officeDocument/2006/relationships/slideMaster" Target="/ppt/slideMasters/slideMaster1.xml" Id="Rc99df958ea2f48ad" /><Relationship Type="http://schemas.openxmlformats.org/officeDocument/2006/relationships/notesMaster" Target="/ppt/notesMasters/notesMaster1.xml" Id="R8cd9885fcf07446c" /><Relationship Type="http://schemas.openxmlformats.org/officeDocument/2006/relationships/presProps" Target="/ppt/presProps.xml" Id="Rfe9cc7f2292d4d06" /><Relationship Type="http://schemas.openxmlformats.org/officeDocument/2006/relationships/tableStyles" Target="/ppt/tableStyles.xml" Id="R5a7a18f399ae4fb8" /><Relationship Type="http://schemas.openxmlformats.org/officeDocument/2006/relationships/slide" Target="/ppt/slides/slide1.xml" Id="Rc8111e1b747447df" /><Relationship Type="http://schemas.openxmlformats.org/officeDocument/2006/relationships/slide" Target="/ppt/slides/slide2.xml" Id="R82120f7a2ba846b4" /><Relationship Type="http://schemas.openxmlformats.org/officeDocument/2006/relationships/slide" Target="/ppt/slides/slide3.xml" Id="Ra2a1ff78c4fe46dc" /><Relationship Type="http://schemas.openxmlformats.org/officeDocument/2006/relationships/slide" Target="/ppt/slides/slide4.xml" Id="R8c847a648b094583" /><Relationship Type="http://schemas.openxmlformats.org/officeDocument/2006/relationships/slide" Target="/ppt/slides/slide5.xml" Id="Ra49e9591796f4238" /><Relationship Type="http://schemas.openxmlformats.org/officeDocument/2006/relationships/slide" Target="/ppt/slides/slide6.xml" Id="Rf079b066b44e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51b446d1e41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2f67cd17f24439" /><Relationship Type="http://schemas.openxmlformats.org/officeDocument/2006/relationships/notesMaster" Target="/ppt/notesMasters/notesMaster1.xml" Id="R70d03b852a6e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efe5c906e449f0" /><Relationship Type="http://schemas.openxmlformats.org/officeDocument/2006/relationships/notesMaster" Target="/ppt/notesMasters/notesMaster1.xml" Id="R0b592a1d2219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77595dbf74cdb" /><Relationship Type="http://schemas.openxmlformats.org/officeDocument/2006/relationships/notesMaster" Target="/ppt/notesMasters/notesMaster1.xml" Id="R3ca12155b44240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a93a2de7174058" /><Relationship Type="http://schemas.openxmlformats.org/officeDocument/2006/relationships/notesMaster" Target="/ppt/notesMasters/notesMaster1.xml" Id="Rdd37d704f80748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b723c2ec24790" /><Relationship Type="http://schemas.openxmlformats.org/officeDocument/2006/relationships/notesMaster" Target="/ppt/notesMasters/notesMaster1.xml" Id="Rd8b8f854453743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1db4cf9af94f8a" /><Relationship Type="http://schemas.openxmlformats.org/officeDocument/2006/relationships/notesMaster" Target="/ppt/notesMasters/notesMaster1.xml" Id="Rd143ebe8f6d74d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and technical summary from README.md and DEMO_GUIDE.md. All measurements in the project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Phase 3.6 DIAGNOSTIC_REPORT.md, and results/phase4/experiment_config.json. All measurements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Phase 3.6 DIAGNOSTIC_REPORT.md, results/phase3_6/test_metrics.csv, results/phase3_6/frozen_selection.json, and results/phase3_6/precision_recall.png. The plotted PR curve is decision-window level; event scores use episode matching.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results/phase3_6/DIAGNOSTIC_REPORT.md, results/phase3_6/test_metrics.csv, results/phase3_6/scenario_test_metrics.csv, and results/phase3_6/episode_detection_by_scenario.png. GNN and GRU event metrics are episode-level; PR-AUC is window-level. Test set has three held-out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results/phase4/per_run_metrics.csv, results/phase4/scenario_summary.csv, results/phase4/experiment_config.json, and results/phase4/routing_comparison.png. Aggregate values below are arithmetic means over five scenarios and five common seeds. Delivery is a hop-level proxy; throughput sums link-hop Mbps.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DEMO_GUIDE.md. The dashboard replays saved Phase 4 runs or runs a new 80-step simulation using the existing simulator and controller. Reported metrics remain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03625f57643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a984bc64544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517232ca243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99652f56c48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d27a30df942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cca59df404f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22266E-6E97-4D45-8620-43D8EEAD1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67188D-B954-463C-A1A3-9407A251BA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F8B983-B6C4-4076-8774-638944E154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C5DB93-2ACB-486A-BFCC-987FF658B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5F12EB-CCE5-40C0-ABBE-791A2E97F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E644F0-CE41-4F9A-8401-E993ECAEF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F2B2E4-A1E3-469E-AAB8-0FAA0E685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E8BB11-2A47-4237-A132-6BF9D1809A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4BC382-1DCC-490F-A323-5B1E371DB9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05C5CA-C910-44F5-824D-96C69D85C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c9b577db6400b" /><Relationship Type="http://schemas.openxmlformats.org/officeDocument/2006/relationships/slideLayout" Target="/ppt/slideLayouts/slideLayout1.xml" Id="R159bb4ddc26d4227" /><Relationship Type="http://schemas.openxmlformats.org/officeDocument/2006/relationships/slideLayout" Target="/ppt/slideLayouts/slideLayout2.xml" Id="R5fb4c0eda4fb45cd" /><Relationship Type="http://schemas.openxmlformats.org/officeDocument/2006/relationships/slideLayout" Target="/ppt/slideLayouts/slideLayout3.xml" Id="R8dbc957e06904582" /><Relationship Type="http://schemas.openxmlformats.org/officeDocument/2006/relationships/slideLayout" Target="/ppt/slideLayouts/slideLayout4.xml" Id="Ra64c41c1161e4850" /><Relationship Type="http://schemas.openxmlformats.org/officeDocument/2006/relationships/slideLayout" Target="/ppt/slideLayouts/slideLayout5.xml" Id="R0ce774dc95434f0e" /><Relationship Type="http://schemas.openxmlformats.org/officeDocument/2006/relationships/slideLayout" Target="/ppt/slideLayouts/slideLayout6.xml" Id="Ra9591f0a96d0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bb4ddc26d4227"/>
    <p:sldLayoutId xmlns:r="http://schemas.openxmlformats.org/officeDocument/2006/relationships" id="2147483650" r:id="R5fb4c0eda4fb45cd"/>
    <p:sldLayoutId xmlns:r="http://schemas.openxmlformats.org/officeDocument/2006/relationships" id="2147483651" r:id="R8dbc957e06904582"/>
    <p:sldLayoutId xmlns:r="http://schemas.openxmlformats.org/officeDocument/2006/relationships" id="2147483652" r:id="Ra64c41c1161e4850"/>
    <p:sldLayoutId xmlns:r="http://schemas.openxmlformats.org/officeDocument/2006/relationships" id="2147483653" r:id="R0ce774dc95434f0e"/>
    <p:sldLayoutId xmlns:r="http://schemas.openxmlformats.org/officeDocument/2006/relationships" id="2147483654" r:id="Ra9591f0a96d0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7b3d4e6cf4960" /><Relationship Type="http://schemas.openxmlformats.org/officeDocument/2006/relationships/notesSlide" Target="/ppt/notesSlides/notesSlide1.xml" Id="R7a250974443b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50b7bf7f344f5" /><Relationship Type="http://schemas.openxmlformats.org/officeDocument/2006/relationships/notesSlide" Target="/ppt/notesSlides/notesSlide2.xml" Id="Rd3a761f5660248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448b083f14923" /><Relationship Type="http://schemas.openxmlformats.org/officeDocument/2006/relationships/image" Target="/ppt/media/image.png" Id="R7da4a0a1d9254c10" /><Relationship Type="http://schemas.openxmlformats.org/officeDocument/2006/relationships/notesSlide" Target="/ppt/notesSlides/notesSlide3.xml" Id="Rb408ab2cadb6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03a9f8e6c4698" /><Relationship Type="http://schemas.openxmlformats.org/officeDocument/2006/relationships/image" Target="/ppt/media/image2.png" Id="R522694141f3c442c" /><Relationship Type="http://schemas.openxmlformats.org/officeDocument/2006/relationships/notesSlide" Target="/ppt/notesSlides/notesSlide4.xml" Id="R011a2db63d2944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2599d99954cca" /><Relationship Type="http://schemas.openxmlformats.org/officeDocument/2006/relationships/image" Target="/ppt/media/image3.png" Id="Re008c72c99e54cf2" /><Relationship Type="http://schemas.openxmlformats.org/officeDocument/2006/relationships/notesSlide" Target="/ppt/notesSlides/notesSlide5.xml" Id="R62190c3ee319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c66658aa64761" /><Relationship Type="http://schemas.openxmlformats.org/officeDocument/2006/relationships/notesSlide" Target="/ppt/notesSlides/notesSlide6.xml" Id="R15cc5a93564049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A8924394-B28F-4046-BD0B-5A8D859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Graph Neural Network-Based</a:t>
            </a:r>
          </a:p>
          <a:p xmlns:a="http://schemas.openxmlformats.org/drawingml/2006/main">
            <a:pPr algn="l">
              <a:def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Network Congestion Prediction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1C3738-E463-4513-AC03-C5F2245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Proactive Traffic Management in Computer Networks</a:t>
            </a:r>
          </a:p>
        </p:txBody>
      </p:sp>
      <p:sp>
        <p:nvSpPr>
          <p:cNvPr id="3" name="Project summary">
            <a:extLst xmlns:a="http://schemas.openxmlformats.org/drawingml/2006/main">
              <a:ext uri="{FF2B5EF4-FFF2-40B4-BE49-F238E27FC236}">
                <a16:creationId xmlns:a16="http://schemas.microsoft.com/office/drawing/2014/main" id="{DFC5B7E2-38DE-4100-9689-1C4B545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 reproducible study using a packet-level simulator, temporal graph learning, and closed-loop routing</a:t>
            </a:r>
          </a:p>
        </p:txBody>
      </p:sp>
      <p:sp>
        <p:nvSpPr>
          <p:cNvPr id="4" name="Project type">
            <a:extLst xmlns:a="http://schemas.openxmlformats.org/drawingml/2006/main">
              <a:ext uri="{FF2B5EF4-FFF2-40B4-BE49-F238E27FC236}">
                <a16:creationId xmlns:a16="http://schemas.microsoft.com/office/drawing/2014/main" id="{3CEB2444-F880-43C9-9272-BB9F7478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UNIVERSITY COMPUTER NETWORKS PROJECT</a:t>
            </a:r>
          </a:p>
        </p:txBody>
      </p:sp>
    </p:spTree>
    <p:extLst>
      <p:ext uri="{BB962C8B-B14F-4D97-AF65-F5344CB8AC3E}">
        <p14:creationId xmlns:p14="http://schemas.microsoft.com/office/powerpoint/2010/main" val="986591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566CBEF-D746-424D-851F-7CEA483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Network simulation and prediction task</a:t>
            </a:r>
          </a:p>
        </p:txBody>
      </p:sp>
      <p:sp>
        <p:nvSpPr>
          <p:cNvPr id="2" name="Topology">
            <a:extLst xmlns:a="http://schemas.openxmlformats.org/drawingml/2006/main">
              <a:ext uri="{FF2B5EF4-FFF2-40B4-BE49-F238E27FC236}">
                <a16:creationId xmlns:a16="http://schemas.microsoft.com/office/drawing/2014/main" id="{41ABC7F1-56E6-4540-94C2-04279326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Topology</a:t>
            </a:r>
          </a:p>
        </p:txBody>
      </p:sp>
      <p:sp>
        <p:nvSpPr>
          <p:cNvPr id="3" name="10 routers and 15 full-duplex links.">
            <a:extLst xmlns:a="http://schemas.openxmlformats.org/drawingml/2006/main">
              <a:ext uri="{FF2B5EF4-FFF2-40B4-BE49-F238E27FC236}">
                <a16:creationId xmlns:a16="http://schemas.microsoft.com/office/drawing/2014/main" id="{9489098F-5428-40FB-9475-E0D2ECB6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906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10 routers and 15 full-duplex links. Each direction has its own finite queue and capacity-bounded service.</a:t>
            </a:r>
          </a:p>
        </p:txBody>
      </p:sp>
      <p:sp>
        <p:nvSpPr>
          <p:cNvPr id="4" name="Traffic">
            <a:extLst xmlns:a="http://schemas.openxmlformats.org/drawingml/2006/main">
              <a:ext uri="{FF2B5EF4-FFF2-40B4-BE49-F238E27FC236}">
                <a16:creationId xmlns:a16="http://schemas.microsoft.com/office/drawing/2014/main" id="{2B4D4E0D-F100-4ECC-B054-C35C2FB0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Traffic</a:t>
            </a:r>
          </a:p>
        </p:txBody>
      </p:sp>
      <p:sp>
        <p:nvSpPr>
          <p:cNvPr id="5" name="Five reproducible patterns: gradual ">
            <a:extLst xmlns:a="http://schemas.openxmlformats.org/drawingml/2006/main">
              <a:ext uri="{FF2B5EF4-FFF2-40B4-BE49-F238E27FC236}">
                <a16:creationId xmlns:a16="http://schemas.microsoft.com/office/drawing/2014/main" id="{FC75E43B-C865-4094-BCE8-34FDDFAD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Five reproducible patterns: gradual ramp, sustained bottleneck, periodic, correlated, and sudden burst.</a:t>
            </a:r>
          </a:p>
        </p:txBody>
      </p:sp>
      <p:sp>
        <p:nvSpPr>
          <p:cNvPr id="6" name="Measurements">
            <a:extLst xmlns:a="http://schemas.openxmlformats.org/drawingml/2006/main">
              <a:ext uri="{FF2B5EF4-FFF2-40B4-BE49-F238E27FC236}">
                <a16:creationId xmlns:a16="http://schemas.microsoft.com/office/drawing/2014/main" id="{1C16C05F-08B5-4A82-AE34-23553EE4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Measurements</a:t>
            </a:r>
          </a:p>
        </p:txBody>
      </p:sp>
      <p:sp>
        <p:nvSpPr>
          <p:cNvPr id="7" name="At one-second intervals: utilization">
            <a:extLst xmlns:a="http://schemas.openxmlformats.org/drawingml/2006/main">
              <a:ext uri="{FF2B5EF4-FFF2-40B4-BE49-F238E27FC236}">
                <a16:creationId xmlns:a16="http://schemas.microsoft.com/office/drawing/2014/main" id="{F8F45107-6FDC-4B3C-B681-62616A6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At one-second intervals: utilization, queue occupancy, delay, packet loss, demand, and throughput.</a:t>
            </a:r>
          </a:p>
        </p:txBody>
      </p:sp>
      <p:sp>
        <p:nvSpPr>
          <p:cNvPr id="8" name="Prediction target">
            <a:extLst xmlns:a="http://schemas.openxmlformats.org/drawingml/2006/main">
              <a:ext uri="{FF2B5EF4-FFF2-40B4-BE49-F238E27FC236}">
                <a16:creationId xmlns:a16="http://schemas.microsoft.com/office/drawing/2014/main" id="{EB079DC7-6EA9-44A5-BE39-3C3670D0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Prediction target</a:t>
            </a:r>
          </a:p>
        </p:txBody>
      </p:sp>
      <p:sp>
        <p:nvSpPr>
          <p:cNvPr id="9" name="From 10 steps of causal history, ide">
            <a:extLst xmlns:a="http://schemas.openxmlformats.org/drawingml/2006/main">
              <a:ext uri="{FF2B5EF4-FFF2-40B4-BE49-F238E27FC236}">
                <a16:creationId xmlns:a16="http://schemas.microsoft.com/office/drawing/2014/main" id="{A7BA791D-2B53-480F-B7FA-4ACECE5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From 10 steps of causal history, identify a first 85% utilization crossing within the next five steps.</a:t>
            </a:r>
          </a:p>
        </p:txBody>
      </p:sp>
      <p:sp>
        <p:nvSpPr>
          <p:cNvPr id="10" name="Held-out test">
            <a:extLst xmlns:a="http://schemas.openxmlformats.org/drawingml/2006/main">
              <a:ext uri="{FF2B5EF4-FFF2-40B4-BE49-F238E27FC236}">
                <a16:creationId xmlns:a16="http://schemas.microsoft.com/office/drawing/2014/main" id="{099A5402-5E02-4024-AE86-7C172144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Held-out test</a:t>
            </a:r>
          </a:p>
        </p:txBody>
      </p:sp>
      <p:sp>
        <p:nvSpPr>
          <p:cNvPr id="11" name="Phase 3.6 grouped independent simula">
            <a:extLst xmlns:a="http://schemas.openxmlformats.org/drawingml/2006/main">
              <a:ext uri="{FF2B5EF4-FFF2-40B4-BE49-F238E27FC236}">
                <a16:creationId xmlns:a16="http://schemas.microsoft.com/office/drawing/2014/main" id="{08B87DC4-5A31-4CE9-B265-74012A7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817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Phase 3.6 grouped independent simulation seeds: 18 train, 4 validation, and 3 test.</a:t>
            </a:r>
          </a:p>
        </p:txBody>
      </p:sp>
      <p:sp>
        <p:nvSpPr>
          <p:cNvPr id="12" name="The held-out split keeps all scenari">
            <a:extLst xmlns:a="http://schemas.openxmlformats.org/drawingml/2006/main">
              <a:ext uri="{FF2B5EF4-FFF2-40B4-BE49-F238E27FC236}">
                <a16:creationId xmlns:a16="http://schemas.microsoft.com/office/drawing/2014/main" id="{000C94C9-0720-4058-B764-17CDA136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The held-out split keeps all scenario variants from one seed together.</a:t>
            </a:r>
          </a:p>
        </p:txBody>
      </p:sp>
    </p:spTree>
    <p:extLst>
      <p:ext uri="{BB962C8B-B14F-4D97-AF65-F5344CB8AC3E}">
        <p14:creationId xmlns:p14="http://schemas.microsoft.com/office/powerpoint/2010/main" val="21648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5E7EB70-FBD3-416E-A91D-86BF329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Temporal graph model</a:t>
            </a:r>
          </a:p>
        </p:txBody>
      </p:sp>
      <p:sp>
        <p:nvSpPr>
          <p:cNvPr id="2" name="Graph representation">
            <a:extLst xmlns:a="http://schemas.openxmlformats.org/drawingml/2006/main">
              <a:ext uri="{FF2B5EF4-FFF2-40B4-BE49-F238E27FC236}">
                <a16:creationId xmlns:a16="http://schemas.microsoft.com/office/drawing/2014/main" id="{A0A61194-C4B8-42E6-9831-993AEA0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Graph representation</a:t>
            </a:r>
          </a:p>
        </p:txBody>
      </p:sp>
      <p:sp>
        <p:nvSpPr>
          <p:cNvPr id="3" name="Each directed link is a graph node. ">
            <a:extLst xmlns:a="http://schemas.openxmlformats.org/drawingml/2006/main">
              <a:ext uri="{FF2B5EF4-FFF2-40B4-BE49-F238E27FC236}">
                <a16:creationId xmlns:a16="http://schemas.microsoft.com/office/drawing/2014/main" id="{B207D06D-0AFD-47A2-9F1E-D1C33E8A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429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Each directed link is a graph node. Links connect when they share a router, so congestion context can pass across adjacent paths.</a:t>
            </a:r>
          </a:p>
        </p:txBody>
      </p:sp>
      <p:sp>
        <p:nvSpPr>
          <p:cNvPr id="4" name="Temporal encoder">
            <a:extLst xmlns:a="http://schemas.openxmlformats.org/drawingml/2006/main">
              <a:ext uri="{FF2B5EF4-FFF2-40B4-BE49-F238E27FC236}">
                <a16:creationId xmlns:a16="http://schemas.microsoft.com/office/drawing/2014/main" id="{FD93640A-D958-4F7A-BCA6-4CCE053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Temporal encoder</a:t>
            </a:r>
          </a:p>
        </p:txBody>
      </p:sp>
      <p:sp>
        <p:nvSpPr>
          <p:cNvPr id="5" name="Graph convolution learns spatial rel">
            <a:extLst xmlns:a="http://schemas.openxmlformats.org/drawingml/2006/main">
              <a:ext uri="{FF2B5EF4-FFF2-40B4-BE49-F238E27FC236}">
                <a16:creationId xmlns:a16="http://schemas.microsoft.com/office/drawing/2014/main" id="{D85B90A1-5C1B-4E80-B8FB-886C6569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429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Graph convolution learns spatial relationships. A GRU summarizes each link’s recent sequence of network measurements.</a:t>
            </a:r>
          </a:p>
        </p:txBody>
      </p:sp>
      <p:sp>
        <p:nvSpPr>
          <p:cNvPr id="6" name="Onset output">
            <a:extLst xmlns:a="http://schemas.openxmlformats.org/drawingml/2006/main">
              <a:ext uri="{FF2B5EF4-FFF2-40B4-BE49-F238E27FC236}">
                <a16:creationId xmlns:a16="http://schemas.microsoft.com/office/drawing/2014/main" id="{F98BBD63-414D-43F9-8BA1-7C9531F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Onset output</a:t>
            </a:r>
          </a:p>
        </p:txBody>
      </p:sp>
      <p:sp>
        <p:nvSpPr>
          <p:cNvPr id="7" name="The GNN threshold was selected on va">
            <a:extLst xmlns:a="http://schemas.openxmlformats.org/drawingml/2006/main">
              <a:ext uri="{FF2B5EF4-FFF2-40B4-BE49-F238E27FC236}">
                <a16:creationId xmlns:a16="http://schemas.microsoft.com/office/drawing/2014/main" id="{C4479EB1-F470-4BCB-97F7-9A567A0C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42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93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The GNN threshold was selected on validation (0.9643). It estimates risk of a future onset, not a guaranteed route improvement.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5017-0379-4978-85E6-6E9B88D666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4a0a1d9254c10"/>
          <a:stretch xmlns:a="http://schemas.openxmlformats.org/drawingml/2006/main"/>
        </p:blipFill>
        <p:spPr>
          <a:xfrm xmlns:a="http://schemas.openxmlformats.org/drawingml/2006/main">
            <a:off x="5429250" y="1381125"/>
            <a:ext cx="6048375" cy="4552950"/>
          </a:xfrm>
          <a:prstGeom xmlns:a="http://schemas.openxmlformats.org/drawingml/2006/main" prst="rect">
            <a:avLst/>
          </a:prstGeom>
        </p:spPr>
      </p:pic>
      <p:sp>
        <p:nvSpPr>
          <p:cNvPr id="9" name="Held-out precision–recall curves. Wi">
            <a:extLst xmlns:a="http://schemas.openxmlformats.org/drawingml/2006/main">
              <a:ext uri="{FF2B5EF4-FFF2-40B4-BE49-F238E27FC236}">
                <a16:creationId xmlns:a16="http://schemas.microsoft.com/office/drawing/2014/main" id="{9425737A-384C-4FCC-B522-58B0CB11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3885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Held-out precision–recall curves. Window-level scores.</a:t>
            </a:r>
          </a:p>
        </p:txBody>
      </p:sp>
    </p:spTree>
    <p:extLst>
      <p:ext uri="{BB962C8B-B14F-4D97-AF65-F5344CB8AC3E}">
        <p14:creationId xmlns:p14="http://schemas.microsoft.com/office/powerpoint/2010/main" val="408936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74875D9-D8F1-46D4-B942-9183F9E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GNN onset detection varies by traffic pattern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CCD27-D52C-458B-9BEF-4B4E7AF8B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694141f3c442c"/>
          <a:stretch xmlns:a="http://schemas.openxmlformats.org/drawingml/2006/main"/>
        </p:blipFill>
        <p:spPr>
          <a:xfrm xmlns:a="http://schemas.openxmlformats.org/drawingml/2006/main">
            <a:off x="685800" y="1581150"/>
            <a:ext cx="6477000" cy="2857500"/>
          </a:xfrm>
          <a:prstGeom xmlns:a="http://schemas.openxmlformats.org/drawingml/2006/main" prst="rect">
            <a:avLst/>
          </a:prstGeom>
        </p:spPr>
      </p:pic>
      <p:sp>
        <p:nvSpPr>
          <p:cNvPr id="3" name="GNN">
            <a:extLst xmlns:a="http://schemas.openxmlformats.org/drawingml/2006/main">
              <a:ext uri="{FF2B5EF4-FFF2-40B4-BE49-F238E27FC236}">
                <a16:creationId xmlns:a16="http://schemas.microsoft.com/office/drawing/2014/main" id="{047F0809-C104-4E4D-92FA-23E0559F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GNN</a:t>
            </a:r>
          </a:p>
        </p:txBody>
      </p:sp>
      <p:sp>
        <p:nvSpPr>
          <p:cNvPr id="4" name="11 of 40&#10;eligible onsets detected">
            <a:extLst xmlns:a="http://schemas.openxmlformats.org/drawingml/2006/main">
              <a:ext uri="{FF2B5EF4-FFF2-40B4-BE49-F238E27FC236}">
                <a16:creationId xmlns:a16="http://schemas.microsoft.com/office/drawing/2014/main" id="{BCC5BDDD-DAAD-4CA0-8385-87FAA553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11 of 40</a:t>
            </a:r>
          </a:p>
          <a:p xmlns:a="http://schemas.openxmlformats.org/drawingml/2006/main">
            <a:pPr algn="l">
              <a:def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eligible onsets detected</a:t>
            </a:r>
          </a:p>
        </p:txBody>
      </p:sp>
      <p:sp>
        <p:nvSpPr>
          <p:cNvPr id="5" name="Episode precision  0.297&#10;Episode rec">
            <a:extLst xmlns:a="http://schemas.openxmlformats.org/drawingml/2006/main">
              <a:ext uri="{FF2B5EF4-FFF2-40B4-BE49-F238E27FC236}">
                <a16:creationId xmlns:a16="http://schemas.microsoft.com/office/drawing/2014/main" id="{AFC56300-67EA-4B5B-921E-46E5B0D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precision  0.297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recall       0.275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Episode F1              0.286</a:t>
            </a:r>
          </a:p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False alerts       1.73 / run</a:t>
            </a:r>
          </a:p>
        </p:txBody>
      </p:sp>
      <p:sp>
        <p:nvSpPr>
          <p:cNvPr id="6" name="Detection was limited to periodic on">
            <a:extLst xmlns:a="http://schemas.openxmlformats.org/drawingml/2006/main">
              <a:ext uri="{FF2B5EF4-FFF2-40B4-BE49-F238E27FC236}">
                <a16:creationId xmlns:a16="http://schemas.microsoft.com/office/drawing/2014/main" id="{3664A13F-390A-435D-BEBD-D30629E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0525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Detection was limited to periodic onsets in this test. The GNN detected none of the tested gradual, sustained, correlated, or sudden-burst episodes.</a:t>
            </a:r>
          </a:p>
        </p:txBody>
      </p:sp>
      <p:sp>
        <p:nvSpPr>
          <p:cNvPr id="7" name="Useful lead averaged 3.18 steps for ">
            <a:extLst xmlns:a="http://schemas.openxmlformats.org/drawingml/2006/main">
              <a:ext uri="{FF2B5EF4-FFF2-40B4-BE49-F238E27FC236}">
                <a16:creationId xmlns:a16="http://schemas.microsoft.com/office/drawing/2014/main" id="{3F08B312-C6A3-4BDD-8DB2-D533BC63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525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Useful lead averaged 3.18 steps for detected episodes; the assumed controller delay is 2 steps.</a:t>
            </a:r>
          </a:p>
        </p:txBody>
      </p:sp>
    </p:spTree>
    <p:extLst>
      <p:ext uri="{BB962C8B-B14F-4D97-AF65-F5344CB8AC3E}">
        <p14:creationId xmlns:p14="http://schemas.microsoft.com/office/powerpoint/2010/main" val="1202419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79C8001-B205-44DE-8C17-76844522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Routing results across 25 paired simulations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64A36-CEB6-4513-ACDD-0C5478FD2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8c72c99e54cf2"/>
          <a:stretch xmlns:a="http://schemas.openxmlformats.org/drawingml/2006/main"/>
        </p:blipFill>
        <p:spPr>
          <a:xfrm xmlns:a="http://schemas.openxmlformats.org/drawingml/2006/main">
            <a:off x="704850" y="1333500"/>
            <a:ext cx="10782300" cy="3943350"/>
          </a:xfrm>
          <a:prstGeom xmlns:a="http://schemas.openxmlformats.org/drawingml/2006/main" prst="rect">
            <a:avLst/>
          </a:prstGeom>
        </p:spPr>
      </p:pic>
      <p:sp>
        <p:nvSpPr>
          <p:cNvPr id="3" name="Mean delay (ms)">
            <a:extLst xmlns:a="http://schemas.openxmlformats.org/drawingml/2006/main">
              <a:ext uri="{FF2B5EF4-FFF2-40B4-BE49-F238E27FC236}">
                <a16:creationId xmlns:a16="http://schemas.microsoft.com/office/drawing/2014/main" id="{DA2752BE-8DBB-40F9-A3FA-14A306FF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Mean delay (ms)</a:t>
            </a:r>
          </a:p>
        </p:txBody>
      </p:sp>
      <p:sp>
        <p:nvSpPr>
          <p:cNvPr id="4" name="Static: 7.095     Reactive: 6.560   ">
            <a:extLst xmlns:a="http://schemas.openxmlformats.org/drawingml/2006/main">
              <a:ext uri="{FF2B5EF4-FFF2-40B4-BE49-F238E27FC236}">
                <a16:creationId xmlns:a16="http://schemas.microsoft.com/office/drawing/2014/main" id="{93C1DCB3-A56A-4FBB-8ECC-138995DA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Static: 7.095     Reactive: 6.560     GRU: 6.729     GNN: 7.018</a:t>
            </a:r>
          </a:p>
        </p:txBody>
      </p:sp>
      <p:sp>
        <p:nvSpPr>
          <p:cNvPr id="5" name="Mean congestion duration (steps): st">
            <a:extLst xmlns:a="http://schemas.openxmlformats.org/drawingml/2006/main">
              <a:ext uri="{FF2B5EF4-FFF2-40B4-BE49-F238E27FC236}">
                <a16:creationId xmlns:a16="http://schemas.microsoft.com/office/drawing/2014/main" id="{257537E2-0317-4BED-9A2F-9446A2CC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71"/>
          </a:bodyPr>
          <a:lstStyle xmlns:a="http://schemas.openxmlformats.org/drawingml/2006/main">
            <a:def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Mean congestion duration (steps): static 40.68, reactive 25.48, GRU 32.20, GNN 38.00. Reactive routing performed best on these averages.</a:t>
            </a:r>
          </a:p>
        </p:txBody>
      </p:sp>
    </p:spTree>
    <p:extLst>
      <p:ext uri="{BB962C8B-B14F-4D97-AF65-F5344CB8AC3E}">
        <p14:creationId xmlns:p14="http://schemas.microsoft.com/office/powerpoint/2010/main" val="471972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8F9A90A-428D-4DCF-8653-DB88D009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Interactive dashboard and project conclusion</a:t>
            </a:r>
          </a:p>
        </p:txBody>
      </p:sp>
      <p:sp>
        <p:nvSpPr>
          <p:cNvPr id="2" name="Dashboard">
            <a:extLst xmlns:a="http://schemas.openxmlformats.org/drawingml/2006/main">
              <a:ext uri="{FF2B5EF4-FFF2-40B4-BE49-F238E27FC236}">
                <a16:creationId xmlns:a16="http://schemas.microsoft.com/office/drawing/2014/main" id="{4BF957C5-DC4C-43D7-8A7B-CBB1423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</p:txBody>
      </p:sp>
      <p:sp>
        <p:nvSpPr>
          <p:cNvPr id="3" name="Replay or run a new simulation. Sele">
            <a:extLst xmlns:a="http://schemas.openxmlformats.org/drawingml/2006/main">
              <a:ext uri="{FF2B5EF4-FFF2-40B4-BE49-F238E27FC236}">
                <a16:creationId xmlns:a16="http://schemas.microsoft.com/office/drawing/2014/main" id="{DCAD274A-4081-4A90-9489-F8B5DF2C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5029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Replay or run a new simulation. Select scenario, seed, and strategy. Scrub, play, pause, reset, and replay measured steps.</a:t>
            </a:r>
          </a:p>
        </p:txBody>
      </p:sp>
      <p:sp>
        <p:nvSpPr>
          <p:cNvPr id="4" name="Inspect">
            <a:extLst xmlns:a="http://schemas.openxmlformats.org/drawingml/2006/main">
              <a:ext uri="{FF2B5EF4-FFF2-40B4-BE49-F238E27FC236}">
                <a16:creationId xmlns:a16="http://schemas.microsoft.com/office/drawing/2014/main" id="{487E84CA-861C-471D-A2A9-E9B8736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5" name="View both directions of each link, o">
            <a:extLst xmlns:a="http://schemas.openxmlformats.org/drawingml/2006/main">
              <a:ext uri="{FF2B5EF4-FFF2-40B4-BE49-F238E27FC236}">
                <a16:creationId xmlns:a16="http://schemas.microsoft.com/office/drawing/2014/main" id="{4FAA582A-B505-4E28-B58E-A250533F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029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View both directions of each link, observed congestion, model risk, applied reroutes, controller events, and paired strategy results.</a:t>
            </a:r>
          </a:p>
        </p:txBody>
      </p:sp>
      <p:sp>
        <p:nvSpPr>
          <p:cNvPr id="6" name="Conclusion">
            <a:extLst xmlns:a="http://schemas.openxmlformats.org/drawingml/2006/main">
              <a:ext uri="{FF2B5EF4-FFF2-40B4-BE49-F238E27FC236}">
                <a16:creationId xmlns:a16="http://schemas.microsoft.com/office/drawing/2014/main" id="{A08D7F36-A7CA-4035-B2C3-C08BCB6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7" name="The GNN pipeline runs end to end, bu">
            <a:extLst xmlns:a="http://schemas.openxmlformats.org/drawingml/2006/main">
              <a:ext uri="{FF2B5EF4-FFF2-40B4-BE49-F238E27FC236}">
                <a16:creationId xmlns:a16="http://schemas.microsoft.com/office/drawing/2014/main" id="{E0D3C4E9-0F2E-457C-BCC4-C8AD012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029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The GNN pipeline runs end to end, but held-out onset detection is weak outside periodic traffic. Reactive routing had lower average delay and congestion duration in the Phase 4 study.</a:t>
            </a:r>
          </a:p>
        </p:txBody>
      </p:sp>
      <p:sp>
        <p:nvSpPr>
          <p:cNvPr id="8" name="Launch">
            <a:extLst xmlns:a="http://schemas.openxmlformats.org/drawingml/2006/main">
              <a:ext uri="{FF2B5EF4-FFF2-40B4-BE49-F238E27FC236}">
                <a16:creationId xmlns:a16="http://schemas.microsoft.com/office/drawing/2014/main" id="{ECD54C82-5199-49F2-BE81-B348D53E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9" name="python -m streamlit run dashboard/ap">
            <a:extLst xmlns:a="http://schemas.openxmlformats.org/drawingml/2006/main">
              <a:ext uri="{FF2B5EF4-FFF2-40B4-BE49-F238E27FC236}">
                <a16:creationId xmlns:a16="http://schemas.microsoft.com/office/drawing/2014/main" id="{6B9215FA-625A-45C2-9A3E-2823C0CB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python -m streamlit run dashboard/app.py</a:t>
            </a:r>
          </a:p>
        </p:txBody>
      </p:sp>
      <p:sp>
        <p:nvSpPr>
          <p:cNvPr id="10" name="Limitations">
            <a:extLst xmlns:a="http://schemas.openxmlformats.org/drawingml/2006/main">
              <a:ext uri="{FF2B5EF4-FFF2-40B4-BE49-F238E27FC236}">
                <a16:creationId xmlns:a16="http://schemas.microsoft.com/office/drawing/2014/main" id="{DE9737A7-7F0C-43F4-A6D9-F8496452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03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11" name="All results are simulated. Delivery ">
            <a:extLst xmlns:a="http://schemas.openxmlformats.org/drawingml/2006/main">
              <a:ext uri="{FF2B5EF4-FFF2-40B4-BE49-F238E27FC236}">
                <a16:creationId xmlns:a16="http://schemas.microsoft.com/office/drawing/2014/main" id="{55B9950D-236A-4D23-906F-737917B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4762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63D"/>
                </a:solidFill>
                <a:latin typeface="Helvetica Neue"/>
                <a:ea typeface="Helvetica Neue"/>
                <a:cs typeface="Helvetica Neue"/>
              </a:rPr>
              <a:t>All results are simulated. Delivery and loss are hop-level proxies; throughput is a link-hop sum. Only three independent seeds form the Phase 3.6 test set. Models trained under static routes may face distribution shift after rerouting.</a:t>
            </a:r>
          </a:p>
        </p:txBody>
      </p:sp>
      <p:sp>
        <p:nvSpPr>
          <p:cNvPr id="12" name="Demo walkthrough: README.md and DEMO">
            <a:extLst xmlns:a="http://schemas.openxmlformats.org/drawingml/2006/main">
              <a:ext uri="{FF2B5EF4-FFF2-40B4-BE49-F238E27FC236}">
                <a16:creationId xmlns:a16="http://schemas.microsoft.com/office/drawing/2014/main" id="{786C5F81-ACA1-4CF4-B14C-D7C3DCA2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72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Demo walkthrough: README.md and DEMO_GUIDE.md</a:t>
            </a:r>
          </a:p>
        </p:txBody>
      </p:sp>
    </p:spTree>
    <p:extLst>
      <p:ext uri="{BB962C8B-B14F-4D97-AF65-F5344CB8AC3E}">
        <p14:creationId xmlns:p14="http://schemas.microsoft.com/office/powerpoint/2010/main" val="1800154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2026-10-28T06:37:16.5870000Z</dcterms:created>
  <dcterms:modified xsi:type="dcterms:W3CDTF">2026-10-28T06:37:16.5870000Z</dcterms:modified>
</coreProperties>
</file>